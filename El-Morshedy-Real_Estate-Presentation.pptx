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5689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exac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x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737369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INTRODUCTION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A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6002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El-Morshedy Real Estate sells residential units on multi-year installment plans. Every unit generates a long schedule of invoices that are settled either in cash or through a bank.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60604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 BI solution consolidates the eight project portfolios into one analytical model and turns scattered installment records into a single, self-service view of what has been sold, invoiced, collected, and what is still outstanding.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20840" y="160020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737369"/>
          </a:solidFill>
          <a:ln w="12700">
            <a:solidFill>
              <a:srgbClr val="7373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0" y="1709928"/>
            <a:ext cx="21031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858000" y="2210105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projects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 one model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281160" y="160020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0" y="1709928"/>
            <a:ext cx="21031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373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418320" y="2210105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by guided navigation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720840" y="278892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0" y="2898648"/>
            <a:ext cx="21031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373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858000" y="3398825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tables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project-level star schemas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81160" y="278892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18320" y="2898648"/>
            <a:ext cx="21031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373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418320" y="3398825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per project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· Cash · Bank · Bank-wise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3977640"/>
            <a:ext cx="112928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373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in Scope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77240" y="4690872"/>
            <a:ext cx="82296" cy="82296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24" name="Text 21"/>
          <p:cNvSpPr/>
          <p:nvPr/>
        </p:nvSpPr>
        <p:spPr>
          <a:xfrm>
            <a:off x="1005840" y="4572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Degla Palms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520440" y="4690872"/>
            <a:ext cx="82296" cy="82296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26" name="Text 23"/>
          <p:cNvSpPr/>
          <p:nvPr/>
        </p:nvSpPr>
        <p:spPr>
          <a:xfrm>
            <a:off x="3749040" y="4572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Degla Landmark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63640" y="4690872"/>
            <a:ext cx="82296" cy="82296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28" name="Text 25"/>
          <p:cNvSpPr/>
          <p:nvPr/>
        </p:nvSpPr>
        <p:spPr>
          <a:xfrm>
            <a:off x="6492240" y="4572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Plaza Maadi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9006840" y="4690872"/>
            <a:ext cx="82296" cy="82296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30" name="Text 27"/>
          <p:cNvSpPr/>
          <p:nvPr/>
        </p:nvSpPr>
        <p:spPr>
          <a:xfrm>
            <a:off x="9235440" y="4572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777240" y="5285232"/>
            <a:ext cx="82296" cy="82296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32" name="Text 29"/>
          <p:cNvSpPr/>
          <p:nvPr/>
        </p:nvSpPr>
        <p:spPr>
          <a:xfrm>
            <a:off x="1005840" y="5166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Skyline Katameya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3520440" y="5285232"/>
            <a:ext cx="82296" cy="82296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34" name="Text 31"/>
          <p:cNvSpPr/>
          <p:nvPr/>
        </p:nvSpPr>
        <p:spPr>
          <a:xfrm>
            <a:off x="3749040" y="5166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Rihana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263640" y="5285232"/>
            <a:ext cx="82296" cy="82296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36" name="Text 33"/>
          <p:cNvSpPr/>
          <p:nvPr/>
        </p:nvSpPr>
        <p:spPr>
          <a:xfrm>
            <a:off x="6492240" y="5166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Zahra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9006840" y="5285232"/>
            <a:ext cx="82296" cy="82296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38" name="Text 35"/>
          <p:cNvSpPr/>
          <p:nvPr/>
        </p:nvSpPr>
        <p:spPr>
          <a:xfrm>
            <a:off x="9235440" y="5166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Katameya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x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737369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THE CHALLENGE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A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dashboard, collections reporting was manual, fragmented and always one step behind.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423160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236829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data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29260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kept its own installment file. There was no single place to compare portfolios or see the company-wide position.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17920" y="21488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92240" y="2423160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95160" y="236829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 on arrears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92240" y="29260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installments were discovered late. Management could not quickly answer how much is due, from whom, and for how long.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44348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4709160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34440" y="465429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vs. bank blind spot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31520" y="52120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and bank collections were mixed together, so the performance of each channel — and of individual banks — was invisible.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17920" y="44348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92240" y="4709160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995160" y="465429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Slow, manual reporting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492240" y="52120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reports were rebuilt in Excel every cycle: slow to produce, hard to audit and inconsistent between teams.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x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737369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THE ANSWER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A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Power BI model with a guided, three-level report: company view, project view, and payment-channel detail.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361188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377440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level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32918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page, Global Summary and Collection-by-Date summary compare all eight projects on the same measures.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44348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Units, sold % and unit price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vs. collected amount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and cash outstanding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97680" y="2103120"/>
            <a:ext cx="3611880" cy="3429000"/>
          </a:xfrm>
          <a:prstGeom prst="roundRect">
            <a:avLst>
              <a:gd name="adj" fmla="val 2667"/>
            </a:avLst>
          </a:prstGeom>
          <a:solidFill>
            <a:srgbClr val="737369"/>
          </a:solidFill>
          <a:ln w="12700">
            <a:solidFill>
              <a:srgbClr val="73736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37744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3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level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0" y="32918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6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has an Overall page with KPI cards, an installment-state donut and a full installment matrix.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0" y="44348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units &amp; sold count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completion %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rate &amp; outstanding %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38160" y="2103120"/>
            <a:ext cx="361188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12480" y="2377440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22" name="Text 19"/>
          <p:cNvSpPr/>
          <p:nvPr/>
        </p:nvSpPr>
        <p:spPr>
          <a:xfrm>
            <a:off x="841248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412480" y="28803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level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412480" y="32918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Bank and Bank-wise pages split the same model by payment method and by individual bank.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412480" y="44348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vs. bank collection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per bank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collection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57150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3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r>
              <a:rPr lang="en-US" sz="12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refreshable source of truth, replacing recurring manual Excel reporting.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x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737369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METHOD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 &amp; Objectives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A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18105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" y="1892808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9" name="Text 6"/>
          <p:cNvSpPr/>
          <p:nvPr/>
        </p:nvSpPr>
        <p:spPr>
          <a:xfrm>
            <a:off x="1197864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3317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265176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installment, unit, customer and payment files per project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350008" y="1691640"/>
            <a:ext cx="18105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90672" y="1892808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14" name="Text 11"/>
          <p:cNvSpPr/>
          <p:nvPr/>
        </p:nvSpPr>
        <p:spPr>
          <a:xfrm>
            <a:off x="3090672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441448" y="23317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459736" y="265176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columns, types and Arabic / English naming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42816" y="1691640"/>
            <a:ext cx="18105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83480" y="1892808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19" name="Text 16"/>
          <p:cNvSpPr/>
          <p:nvPr/>
        </p:nvSpPr>
        <p:spPr>
          <a:xfrm>
            <a:off x="4983480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334256" y="23317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352544" y="265176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star schema per project plus a global layer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35624" y="1691640"/>
            <a:ext cx="18105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76288" y="1892808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24" name="Text 21"/>
          <p:cNvSpPr/>
          <p:nvPr/>
        </p:nvSpPr>
        <p:spPr>
          <a:xfrm>
            <a:off x="6876288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227064" y="23317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245352" y="265176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a consistent DAX measure set for every project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8028432" y="1691640"/>
            <a:ext cx="18105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769096" y="1892808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29" name="Text 26"/>
          <p:cNvSpPr/>
          <p:nvPr/>
        </p:nvSpPr>
        <p:spPr>
          <a:xfrm>
            <a:off x="8769096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119872" y="23317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138160" y="265176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KPI cards, matrices and custom visuals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9921240" y="1691640"/>
            <a:ext cx="18105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661904" y="1892808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34" name="Text 31"/>
          <p:cNvSpPr/>
          <p:nvPr/>
        </p:nvSpPr>
        <p:spPr>
          <a:xfrm>
            <a:off x="10661904" y="1892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0012680" y="2331720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0030968" y="265176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with guided navigation for business users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3703320"/>
            <a:ext cx="11292840" cy="2377440"/>
          </a:xfrm>
          <a:prstGeom prst="roundRect">
            <a:avLst>
              <a:gd name="adj" fmla="val 3846"/>
            </a:avLst>
          </a:prstGeom>
          <a:solidFill>
            <a:srgbClr val="737369"/>
          </a:solidFill>
          <a:ln/>
        </p:spPr>
      </p:sp>
      <p:sp>
        <p:nvSpPr>
          <p:cNvPr id="38" name="Text 35"/>
          <p:cNvSpPr/>
          <p:nvPr/>
        </p:nvSpPr>
        <p:spPr>
          <a:xfrm>
            <a:off x="77724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700" dirty="0"/>
          </a:p>
        </p:txBody>
      </p:sp>
      <p:sp>
        <p:nvSpPr>
          <p:cNvPr id="39" name="Text 36"/>
          <p:cNvSpPr/>
          <p:nvPr/>
        </p:nvSpPr>
        <p:spPr>
          <a:xfrm>
            <a:off x="868680" y="44805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view of collections across all eight projects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overdue installments early enough to act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cash and bank, and rank each bank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Excel reporting with a refreshable model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sold units, completion % and balances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x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737369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BUILD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Modeling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A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— repeated for each of the 8 projects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331720" y="3730752"/>
            <a:ext cx="1554480" cy="585216"/>
          </a:xfrm>
          <a:prstGeom prst="roundRect">
            <a:avLst>
              <a:gd name="adj" fmla="val 12500"/>
            </a:avLst>
          </a:prstGeom>
          <a:solidFill>
            <a:srgbClr val="737369"/>
          </a:solidFill>
          <a:ln/>
        </p:spPr>
      </p:sp>
      <p:sp>
        <p:nvSpPr>
          <p:cNvPr id="10" name="Text 7"/>
          <p:cNvSpPr/>
          <p:nvPr/>
        </p:nvSpPr>
        <p:spPr>
          <a:xfrm>
            <a:off x="2331720" y="373075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Fact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08960" y="4023360"/>
            <a:ext cx="0" cy="0"/>
          </a:xfrm>
          <a:prstGeom prst="line">
            <a:avLst/>
          </a:prstGeom>
          <a:noFill/>
          <a:ln w="15875">
            <a:solidFill>
              <a:srgbClr val="B5AD9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36275" y="4306823"/>
            <a:ext cx="1078875" cy="585216"/>
          </a:xfrm>
          <a:prstGeom prst="line">
            <a:avLst/>
          </a:prstGeom>
          <a:noFill/>
          <a:ln w="15875">
            <a:solidFill>
              <a:srgbClr val="B5AD9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98696" y="3084030"/>
            <a:ext cx="1097584" cy="646722"/>
          </a:xfrm>
          <a:prstGeom prst="line">
            <a:avLst/>
          </a:prstGeom>
          <a:noFill/>
          <a:ln w="15875">
            <a:solidFill>
              <a:srgbClr val="B5AD9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3121640" y="3108958"/>
            <a:ext cx="892576" cy="621794"/>
          </a:xfrm>
          <a:prstGeom prst="line">
            <a:avLst/>
          </a:prstGeom>
          <a:noFill/>
          <a:ln w="15875">
            <a:solidFill>
              <a:srgbClr val="B5AD9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325880" y="2606040"/>
            <a:ext cx="1188720" cy="502920"/>
          </a:xfrm>
          <a:prstGeom prst="roundRect">
            <a:avLst>
              <a:gd name="adj" fmla="val 12727"/>
            </a:avLst>
          </a:prstGeom>
          <a:solidFill>
            <a:srgbClr val="E6DFD0"/>
          </a:solidFill>
          <a:ln w="12700">
            <a:solidFill>
              <a:srgbClr val="7373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25880" y="2606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3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Dim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703320" y="2606040"/>
            <a:ext cx="1188720" cy="502920"/>
          </a:xfrm>
          <a:prstGeom prst="roundRect">
            <a:avLst>
              <a:gd name="adj" fmla="val 12727"/>
            </a:avLst>
          </a:prstGeom>
          <a:solidFill>
            <a:srgbClr val="E6DFD0"/>
          </a:solidFill>
          <a:ln w="12700">
            <a:solidFill>
              <a:srgbClr val="7373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03320" y="2606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3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Dim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325880" y="4892040"/>
            <a:ext cx="1188720" cy="502920"/>
          </a:xfrm>
          <a:prstGeom prst="roundRect">
            <a:avLst>
              <a:gd name="adj" fmla="val 12727"/>
            </a:avLst>
          </a:prstGeom>
          <a:solidFill>
            <a:srgbClr val="E6DFD0"/>
          </a:solidFill>
          <a:ln w="12700">
            <a:solidFill>
              <a:srgbClr val="7373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25880" y="4892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3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Dim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703320" y="4892040"/>
            <a:ext cx="1188720" cy="502920"/>
          </a:xfrm>
          <a:prstGeom prst="roundRect">
            <a:avLst>
              <a:gd name="adj" fmla="val 12727"/>
            </a:avLst>
          </a:prstGeom>
          <a:solidFill>
            <a:srgbClr val="E6DFD0"/>
          </a:solidFill>
          <a:ln w="12700">
            <a:solidFill>
              <a:srgbClr val="7373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03320" y="4892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3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Table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35040" y="1719072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24" name="Text 21"/>
          <p:cNvSpPr/>
          <p:nvPr/>
        </p:nvSpPr>
        <p:spPr>
          <a:xfrm>
            <a:off x="6035040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9224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consolidation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6492240" y="196596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Installment, unit, customer and payment files were imported per project and aligned to one column standard.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035040" y="2587752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28" name="Text 25"/>
          <p:cNvSpPr/>
          <p:nvPr/>
        </p:nvSpPr>
        <p:spPr>
          <a:xfrm>
            <a:off x="6035040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492240" y="2514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in Power Query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492240" y="283464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 and blanks, fixed data types, trimmed text keys, and reconciled Arabic field names.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035040" y="3456432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32" name="Text 29"/>
          <p:cNvSpPr/>
          <p:nvPr/>
        </p:nvSpPr>
        <p:spPr>
          <a:xfrm>
            <a:off x="603504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492240" y="3383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 modeling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6492240" y="370332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was modeled as a star: one fact table of installments joined to Customer, Unit, Payment and Date.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035040" y="4325112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36" name="Text 33"/>
          <p:cNvSpPr/>
          <p:nvPr/>
        </p:nvSpPr>
        <p:spPr>
          <a:xfrm>
            <a:off x="6035040" y="4325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492240" y="4251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Dedicated measure tables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6492240" y="457200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DAX table per project holds the full measure set, so logic stays consistent and easy to maintain.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035040" y="5193792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40" name="Text 37"/>
          <p:cNvSpPr/>
          <p:nvPr/>
        </p:nvSpPr>
        <p:spPr>
          <a:xfrm>
            <a:off x="6035040" y="5193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492240" y="5120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integration layer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6492240" y="544068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Projects table and a shared date table roll the eight models up into one company-wide summary.</a:t>
            </a:r>
            <a:endParaRPr lang="en-US" sz="1050" dirty="0"/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A2769582-294B-9A52-8763-C0F224DC6996}"/>
              </a:ext>
            </a:extLst>
          </p:cNvPr>
          <p:cNvSpPr/>
          <p:nvPr/>
        </p:nvSpPr>
        <p:spPr>
          <a:xfrm flipV="1">
            <a:off x="2057400" y="4315967"/>
            <a:ext cx="1078875" cy="576072"/>
          </a:xfrm>
          <a:prstGeom prst="line">
            <a:avLst/>
          </a:prstGeom>
          <a:noFill/>
          <a:ln w="15875">
            <a:solidFill>
              <a:srgbClr val="B5AD9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x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737369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ANALYSIS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&amp; Payment Analysis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A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installment is classified by payment method, so the same measures can be read for the portfolio, for cash, or for a single bank.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2157984" cy="329184"/>
          </a:xfrm>
          <a:prstGeom prst="roundRect">
            <a:avLst>
              <a:gd name="adj" fmla="val 50000"/>
            </a:avLst>
          </a:prstGeom>
          <a:solidFill>
            <a:srgbClr val="737369"/>
          </a:solidFill>
          <a:ln w="12700">
            <a:solidFill>
              <a:srgbClr val="7373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10312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Installments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52344" y="2103120"/>
            <a:ext cx="95097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373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52344" y="210312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3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40480" y="2103120"/>
            <a:ext cx="95097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373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0" y="2103120"/>
            <a:ext cx="950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3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6517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28163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373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Issued vs. collected invoices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32004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invoices were raised, and how many have actually been settled.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31520" y="37490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invoices · Invoice amount · Due date · Installment state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217920" y="265176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281635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373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Collected &amp; outstanding amount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92240" y="32004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in, and the balance still due, at any date or installment number.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92240" y="37490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and direct payments · split further by individual bank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5720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736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373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 rate &amp; outstanding %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31520" y="51206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 of invoiced value recovered — the headline health metric per project.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31520" y="56692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slicers on every page for period-on-period comparison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217920" y="45720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92240" y="4736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373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Bank-wise performance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92240" y="51206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and outstanding value ranked by individual bank.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492240" y="56692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Installment-state mix (paid / due / overdue) as a donut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x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737369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ANALYSIS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Analysis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A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layer answers what has been sold, at what value, and how far each project has progressed.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2368296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2368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" y="2862072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Adopted Total Units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3232" y="326440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inventory approved for sale in the project.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97680" y="21488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53712" y="2368296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15" name="Text 12"/>
          <p:cNvSpPr/>
          <p:nvPr/>
        </p:nvSpPr>
        <p:spPr>
          <a:xfrm>
            <a:off x="4553712" y="2368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53712" y="2862072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Sold Count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53712" y="326440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actually contracted, the numerator of sales progress.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138160" y="21488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94192" y="2368296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20" name="Text 17"/>
          <p:cNvSpPr/>
          <p:nvPr/>
        </p:nvSpPr>
        <p:spPr>
          <a:xfrm>
            <a:off x="8394192" y="2368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394192" y="2862072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Completion %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394192" y="326440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units as a share of adopted units, shown as a gauge.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39776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3232" y="4197096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25" name="Text 22"/>
          <p:cNvSpPr/>
          <p:nvPr/>
        </p:nvSpPr>
        <p:spPr>
          <a:xfrm>
            <a:off x="713232" y="4197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13232" y="4690872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Price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13232" y="509320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contracted price, used to compare projects fairly.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297680" y="39776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53712" y="4197096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30" name="Text 27"/>
          <p:cNvSpPr/>
          <p:nvPr/>
        </p:nvSpPr>
        <p:spPr>
          <a:xfrm>
            <a:off x="4553712" y="4197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53712" y="4690872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Invoice Amount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53712" y="509320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contracted value scheduled across all installments.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138160" y="397764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394192" y="4197096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35" name="Text 32"/>
          <p:cNvSpPr/>
          <p:nvPr/>
        </p:nvSpPr>
        <p:spPr>
          <a:xfrm>
            <a:off x="8394192" y="4197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8394192" y="4690872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Concentration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394192" y="509320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value by customer, revealing the largest accounts.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7200" y="5623560"/>
            <a:ext cx="11292840" cy="594360"/>
          </a:xfrm>
          <a:prstGeom prst="roundRect">
            <a:avLst>
              <a:gd name="adj" fmla="val 12308"/>
            </a:avLst>
          </a:prstGeom>
          <a:solidFill>
            <a:srgbClr val="737369"/>
          </a:solidFill>
          <a:ln/>
        </p:spPr>
      </p:sp>
      <p:sp>
        <p:nvSpPr>
          <p:cNvPr id="39" name="Text 36"/>
          <p:cNvSpPr/>
          <p:nvPr/>
        </p:nvSpPr>
        <p:spPr>
          <a:xfrm>
            <a:off x="685800" y="5623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comparison: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Summary matrix places units, sold %, unit price, invoiced amount, collected amount and outstanding balance for all eight projects on a single screen.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tex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737369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FINDINGS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3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5AD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554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makes visible once the eight portfolios sit side by side.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11292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286000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21762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373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 rate is the real health signal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709160" y="21762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progress and cash progress diverge. A project can be almost fully sold while its collection rate lags, so completion % alone overstates performance.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907792"/>
            <a:ext cx="11292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3090672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298094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373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Outstanding balance concentrates in later installments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09160" y="298094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value falls as the installment number rises, which is where arrears accumulate and where follow-up effort pays back most.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3712464"/>
            <a:ext cx="11292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3895344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3895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378561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373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mix changes the risk profile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709160" y="378561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cash from bank shows outstanding balance is not spread evenly between channels, and bank-wise ranking exposes which partners settle reliably.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4517136"/>
            <a:ext cx="11292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5800" y="4700016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" y="4700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88720" y="45902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373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set of customers drives the balance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709160" y="459028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amount by customer is heavily skewed, so a short priority list of accounts covers a large share of the outstanding value.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5321808"/>
            <a:ext cx="11292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4C9B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5800" y="5504688"/>
            <a:ext cx="329184" cy="329184"/>
          </a:xfrm>
          <a:prstGeom prst="ellipse">
            <a:avLst/>
          </a:prstGeom>
          <a:solidFill>
            <a:srgbClr val="737369"/>
          </a:solidFill>
          <a:ln/>
        </p:spPr>
      </p:sp>
      <p:sp>
        <p:nvSpPr>
          <p:cNvPr id="30" name="Text 27"/>
          <p:cNvSpPr/>
          <p:nvPr/>
        </p:nvSpPr>
        <p:spPr>
          <a:xfrm>
            <a:off x="685800" y="5504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188720" y="5394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373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Comparability was the missing ingredient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4709160" y="53949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measures across all eight projects turned isolated files into a ranking, making weak and strong portfolios obvious at a glance.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373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7373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6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DF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separate project files now run on one governed Power BI model.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Collections, arrears and sales progress are visible in the same place, at any date.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and bank performance can finally be measured and compared per bank.</a:t>
            </a:r>
            <a:endParaRPr lang="en-US" sz="12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Excel reporting is replaced by a refreshable, auditable source of truth.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0" cy="3566160"/>
          </a:xfrm>
          <a:prstGeom prst="line">
            <a:avLst/>
          </a:prstGeom>
          <a:noFill/>
          <a:ln w="12700">
            <a:solidFill>
              <a:srgbClr val="B5AD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DF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55080" y="21031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refresh &amp; alerts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23957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refresh with data alerts when overdue balance crosses a threshold.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55080" y="29443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Ageing buckets &amp; risk scoring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32369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arrears by days overdue and score customers by payment behaviour.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55080" y="378561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5080" y="407822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expected monthly collections from the remaining installment schedule.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55080" y="462686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&amp; mobile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55080" y="49194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4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 access for sales managers, plus a mobile layout for the field team.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5806440"/>
            <a:ext cx="11274552" cy="0"/>
          </a:xfrm>
          <a:prstGeom prst="line">
            <a:avLst/>
          </a:prstGeom>
          <a:noFill/>
          <a:ln w="12700">
            <a:solidFill>
              <a:srgbClr val="B5AD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1282</Words>
  <Application>Microsoft Office PowerPoint</Application>
  <PresentationFormat>Widescreen</PresentationFormat>
  <Paragraphs>205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Ebrahim</cp:lastModifiedBy>
  <cp:revision>2</cp:revision>
  <dcterms:created xsi:type="dcterms:W3CDTF">2026-09-17T19:03:55Z</dcterms:created>
  <dcterms:modified xsi:type="dcterms:W3CDTF">2026-09-17T23:02:32Z</dcterms:modified>
</cp:coreProperties>
</file>